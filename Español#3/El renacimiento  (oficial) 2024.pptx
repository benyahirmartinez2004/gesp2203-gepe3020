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1" r:id="rId4"/>
    <p:sldId id="272" r:id="rId5"/>
    <p:sldId id="259" r:id="rId6"/>
    <p:sldId id="258" r:id="rId7"/>
    <p:sldId id="260" r:id="rId8"/>
    <p:sldId id="261" r:id="rId9"/>
    <p:sldId id="273" r:id="rId10"/>
    <p:sldId id="262" r:id="rId11"/>
    <p:sldId id="274" r:id="rId12"/>
    <p:sldId id="275" r:id="rId13"/>
    <p:sldId id="276" r:id="rId14"/>
    <p:sldId id="277" r:id="rId15"/>
    <p:sldId id="278" r:id="rId16"/>
    <p:sldId id="279" r:id="rId17"/>
    <p:sldId id="263" r:id="rId18"/>
    <p:sldId id="269" r:id="rId19"/>
    <p:sldId id="270" r:id="rId20"/>
    <p:sldId id="268" r:id="rId21"/>
    <p:sldId id="264" r:id="rId22"/>
    <p:sldId id="281" r:id="rId23"/>
    <p:sldId id="265" r:id="rId24"/>
    <p:sldId id="267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D7D4F2-FE72-44AB-976D-19B19B74AF0C}">
          <p14:sldIdLst>
            <p14:sldId id="256"/>
            <p14:sldId id="257"/>
            <p14:sldId id="271"/>
            <p14:sldId id="272"/>
            <p14:sldId id="259"/>
            <p14:sldId id="258"/>
            <p14:sldId id="260"/>
            <p14:sldId id="261"/>
            <p14:sldId id="273"/>
            <p14:sldId id="262"/>
            <p14:sldId id="274"/>
            <p14:sldId id="275"/>
            <p14:sldId id="276"/>
            <p14:sldId id="277"/>
            <p14:sldId id="278"/>
            <p14:sldId id="279"/>
            <p14:sldId id="263"/>
            <p14:sldId id="269"/>
            <p14:sldId id="270"/>
            <p14:sldId id="268"/>
            <p14:sldId id="264"/>
            <p14:sldId id="281"/>
            <p14:sldId id="265"/>
            <p14:sldId id="267"/>
            <p14:sldId id="280"/>
          </p14:sldIdLst>
        </p14:section>
        <p14:section name="Untitled Section" id="{A6D9A126-726A-430D-810A-BAA2E69F5BA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07D6D-FF2E-47C6-9974-1EFE1372ADEE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4D32E-9811-455F-8C1B-B87C74D65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3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B02557A-7053-4340-A874-8AB926A8EDA1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BB02557A-7053-4340-A874-8AB926A8EDA1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BB02557A-7053-4340-A874-8AB926A8EDA1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BB02557A-7053-4340-A874-8AB926A8EDA1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BB02557A-7053-4340-A874-8AB926A8EDA1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F44F-11EA-409F-A5F2-46CA74C12D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Renacimiento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5526C-EEA1-42E0-B296-EE603AAD6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752" y="3684104"/>
            <a:ext cx="4098970" cy="2299033"/>
          </a:xfrm>
        </p:spPr>
        <p:txBody>
          <a:bodyPr/>
          <a:lstStyle/>
          <a:p>
            <a:r>
              <a:rPr lang="en-US" dirty="0"/>
              <a:t>Universidad </a:t>
            </a:r>
            <a:r>
              <a:rPr lang="en-US" dirty="0" err="1"/>
              <a:t>Interamericana</a:t>
            </a:r>
            <a:r>
              <a:rPr lang="en-US" dirty="0"/>
              <a:t> de P. R.</a:t>
            </a:r>
          </a:p>
          <a:p>
            <a:r>
              <a:rPr lang="en-US" dirty="0" err="1"/>
              <a:t>Recinto</a:t>
            </a:r>
            <a:r>
              <a:rPr lang="en-US" dirty="0"/>
              <a:t> de Arecibo</a:t>
            </a:r>
          </a:p>
          <a:p>
            <a:r>
              <a:rPr lang="en-US" dirty="0"/>
              <a:t>GESP 2203</a:t>
            </a:r>
          </a:p>
          <a:p>
            <a:r>
              <a:rPr lang="en-US" dirty="0" err="1"/>
              <a:t>Profesor</a:t>
            </a:r>
            <a:r>
              <a:rPr lang="en-US" dirty="0"/>
              <a:t>: Dr. Rafael González Rivera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7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D867-28A4-4CDA-8895-21505643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Descripción</a:t>
            </a:r>
            <a:r>
              <a:rPr lang="en-US" dirty="0"/>
              <a:t>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A9AD2-2C66-4E72-81E2-909B11418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Movimiento</a:t>
            </a:r>
            <a:r>
              <a:rPr lang="en-US" sz="3600" dirty="0"/>
              <a:t> </a:t>
            </a:r>
            <a:r>
              <a:rPr lang="en-US" sz="3600" dirty="0" err="1"/>
              <a:t>artístico</a:t>
            </a:r>
            <a:r>
              <a:rPr lang="en-US" sz="3600" dirty="0"/>
              <a:t> y cultural</a:t>
            </a:r>
          </a:p>
          <a:p>
            <a:r>
              <a:rPr lang="en-US" sz="3600" dirty="0" err="1"/>
              <a:t>Desde</a:t>
            </a:r>
            <a:r>
              <a:rPr lang="en-US" sz="3600" dirty="0"/>
              <a:t> Italia </a:t>
            </a:r>
            <a:r>
              <a:rPr lang="en-US" sz="3600" dirty="0" err="1"/>
              <a:t>hacia</a:t>
            </a:r>
            <a:r>
              <a:rPr lang="en-US" sz="3600" dirty="0"/>
              <a:t> Europa Occidental</a:t>
            </a:r>
          </a:p>
          <a:p>
            <a:r>
              <a:rPr lang="en-US" sz="3600" dirty="0"/>
              <a:t>Siglos XIV-XVI </a:t>
            </a:r>
          </a:p>
          <a:p>
            <a:r>
              <a:rPr lang="en-US" sz="3600" dirty="0"/>
              <a:t>Giorgio Vasari </a:t>
            </a:r>
            <a:r>
              <a:rPr lang="en-US" sz="3600" dirty="0" err="1"/>
              <a:t>fue</a:t>
            </a:r>
            <a:r>
              <a:rPr lang="en-US" sz="3600" dirty="0"/>
              <a:t> </a:t>
            </a:r>
            <a:r>
              <a:rPr lang="en-US" sz="3600" dirty="0" err="1"/>
              <a:t>quien</a:t>
            </a:r>
            <a:r>
              <a:rPr lang="en-US" sz="3600" dirty="0"/>
              <a:t> le </a:t>
            </a:r>
            <a:r>
              <a:rPr lang="en-US" sz="3600" dirty="0" err="1"/>
              <a:t>dio</a:t>
            </a:r>
            <a:r>
              <a:rPr lang="en-US" sz="3600" dirty="0"/>
              <a:t>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nombre</a:t>
            </a:r>
            <a:r>
              <a:rPr lang="en-US" sz="3600" dirty="0"/>
              <a:t> al </a:t>
            </a:r>
            <a:r>
              <a:rPr lang="en-US" sz="3600" dirty="0" err="1"/>
              <a:t>periodo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33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9999-C582-DE14-303A-F6284490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Descripción</a:t>
            </a:r>
            <a:r>
              <a:rPr lang="en-US" dirty="0"/>
              <a:t>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8FB01-6937-FF64-83CD-7A31E63C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 </a:t>
            </a:r>
            <a:r>
              <a:rPr lang="en-US" sz="3600" dirty="0" err="1"/>
              <a:t>renacimiento</a:t>
            </a:r>
            <a:r>
              <a:rPr lang="en-US" sz="3600" dirty="0"/>
              <a:t> </a:t>
            </a:r>
            <a:r>
              <a:rPr lang="en-US" sz="3600" dirty="0" err="1"/>
              <a:t>sirve</a:t>
            </a:r>
            <a:r>
              <a:rPr lang="en-US" sz="3600" dirty="0"/>
              <a:t> de </a:t>
            </a:r>
            <a:r>
              <a:rPr lang="en-US" sz="3600" dirty="0" err="1"/>
              <a:t>transición</a:t>
            </a:r>
            <a:r>
              <a:rPr lang="en-US" sz="3600" dirty="0"/>
              <a:t> entre la </a:t>
            </a:r>
            <a:r>
              <a:rPr lang="en-US" sz="3600" dirty="0" err="1"/>
              <a:t>Edad</a:t>
            </a:r>
            <a:r>
              <a:rPr lang="en-US" sz="3600" dirty="0"/>
              <a:t> Media y </a:t>
            </a:r>
            <a:r>
              <a:rPr lang="en-US" sz="3600" dirty="0" err="1"/>
              <a:t>el</a:t>
            </a:r>
            <a:r>
              <a:rPr lang="en-US" sz="3600" dirty="0"/>
              <a:t> principio de la era </a:t>
            </a:r>
            <a:r>
              <a:rPr lang="en-US" sz="3600" dirty="0" err="1"/>
              <a:t>moderna</a:t>
            </a:r>
            <a:r>
              <a:rPr lang="en-US" sz="3600" dirty="0"/>
              <a:t>.</a:t>
            </a:r>
          </a:p>
          <a:p>
            <a:r>
              <a:rPr lang="en-US" sz="3600" dirty="0"/>
              <a:t>Es un </a:t>
            </a:r>
            <a:r>
              <a:rPr lang="en-US" sz="3600" dirty="0" err="1"/>
              <a:t>periodo</a:t>
            </a:r>
            <a:r>
              <a:rPr lang="en-US" sz="3600" dirty="0"/>
              <a:t> de </a:t>
            </a:r>
            <a:r>
              <a:rPr lang="en-US" sz="3600" dirty="0" err="1"/>
              <a:t>renovación</a:t>
            </a:r>
            <a:r>
              <a:rPr lang="en-US" sz="3600" dirty="0"/>
              <a:t> del </a:t>
            </a:r>
            <a:r>
              <a:rPr lang="en-US" sz="3600" dirty="0" err="1"/>
              <a:t>pensamiento</a:t>
            </a:r>
            <a:r>
              <a:rPr lang="en-US" sz="3600" dirty="0"/>
              <a:t>, las </a:t>
            </a:r>
            <a:r>
              <a:rPr lang="en-US" sz="3600" dirty="0" err="1"/>
              <a:t>artes</a:t>
            </a:r>
            <a:r>
              <a:rPr lang="en-US" sz="3600" dirty="0"/>
              <a:t> y las </a:t>
            </a:r>
            <a:r>
              <a:rPr lang="en-US" sz="3600" dirty="0" err="1"/>
              <a:t>ciencias</a:t>
            </a:r>
            <a:r>
              <a:rPr lang="en-US" sz="3600" dirty="0"/>
              <a:t>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6355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BA24-CFC0-DB09-B5E6-F7D46BB3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Descripción</a:t>
            </a:r>
            <a:r>
              <a:rPr lang="en-US" dirty="0"/>
              <a:t>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26F6-7B54-B95F-BAE9-6886EF0CB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 </a:t>
            </a:r>
            <a:r>
              <a:rPr lang="en-US" sz="3600" dirty="0" err="1"/>
              <a:t>retorna</a:t>
            </a:r>
            <a:r>
              <a:rPr lang="en-US" sz="3600" dirty="0"/>
              <a:t> a las </a:t>
            </a:r>
            <a:r>
              <a:rPr lang="en-US" sz="3600" dirty="0" err="1"/>
              <a:t>raíces</a:t>
            </a:r>
            <a:r>
              <a:rPr lang="en-US" sz="3600" dirty="0"/>
              <a:t> </a:t>
            </a:r>
            <a:r>
              <a:rPr lang="en-US" sz="3600" dirty="0" err="1"/>
              <a:t>grecolatinas</a:t>
            </a:r>
            <a:r>
              <a:rPr lang="en-US" sz="3600" dirty="0"/>
              <a:t> </a:t>
            </a:r>
            <a:r>
              <a:rPr lang="en-US" sz="3600" dirty="0" err="1"/>
              <a:t>clásicas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concepto</a:t>
            </a:r>
            <a:r>
              <a:rPr lang="en-US" sz="3600" dirty="0"/>
              <a:t> de la </a:t>
            </a:r>
            <a:r>
              <a:rPr lang="en-US" sz="3600" dirty="0" err="1"/>
              <a:t>belleza</a:t>
            </a:r>
            <a:r>
              <a:rPr lang="en-US" sz="3600" dirty="0"/>
              <a:t> y del </a:t>
            </a:r>
            <a:r>
              <a:rPr lang="en-US" sz="3600" dirty="0" err="1"/>
              <a:t>pensamiento</a:t>
            </a:r>
            <a:r>
              <a:rPr lang="en-US" sz="3600" dirty="0"/>
              <a:t> </a:t>
            </a:r>
            <a:r>
              <a:rPr lang="en-US" sz="3600" dirty="0" err="1"/>
              <a:t>filosófico</a:t>
            </a:r>
            <a:r>
              <a:rPr lang="en-US" sz="3600" dirty="0"/>
              <a:t>.</a:t>
            </a:r>
          </a:p>
          <a:p>
            <a:r>
              <a:rPr lang="en-US" sz="3600" dirty="0"/>
              <a:t>No </a:t>
            </a:r>
            <a:r>
              <a:rPr lang="en-US" sz="3600" dirty="0" err="1"/>
              <a:t>fue</a:t>
            </a:r>
            <a:r>
              <a:rPr lang="en-US" sz="3600" dirty="0"/>
              <a:t> un </a:t>
            </a:r>
            <a:r>
              <a:rPr lang="en-US" sz="3600" dirty="0" err="1"/>
              <a:t>movimiento</a:t>
            </a:r>
            <a:r>
              <a:rPr lang="en-US" sz="3600" dirty="0"/>
              <a:t> </a:t>
            </a:r>
            <a:r>
              <a:rPr lang="en-US" sz="3600" dirty="0" err="1"/>
              <a:t>homogéneamente</a:t>
            </a:r>
            <a:r>
              <a:rPr lang="en-US" sz="3600" dirty="0"/>
              <a:t> </a:t>
            </a:r>
            <a:r>
              <a:rPr lang="en-US" sz="3600" dirty="0" err="1"/>
              <a:t>cronológico</a:t>
            </a:r>
            <a:r>
              <a:rPr lang="en-US" sz="3600" dirty="0"/>
              <a:t> </a:t>
            </a:r>
            <a:r>
              <a:rPr lang="en-US" sz="3600" dirty="0" err="1"/>
              <a:t>ni</a:t>
            </a:r>
            <a:r>
              <a:rPr lang="en-US" sz="3600" dirty="0"/>
              <a:t> </a:t>
            </a:r>
            <a:r>
              <a:rPr lang="en-US" sz="3600" dirty="0" err="1"/>
              <a:t>geográfico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655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7218-D4B2-4F29-A8E7-C4CB2B3D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AD485-71CF-46ED-9657-BC6B3FE9C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 err="1"/>
              <a:t>Antropocentrismo</a:t>
            </a:r>
            <a:endParaRPr lang="en-US" sz="3600" dirty="0"/>
          </a:p>
          <a:p>
            <a:r>
              <a:rPr lang="en-US" sz="3600" dirty="0" err="1"/>
              <a:t>Humanismo</a:t>
            </a:r>
            <a:r>
              <a:rPr lang="en-US" sz="3600" dirty="0"/>
              <a:t> </a:t>
            </a:r>
            <a:r>
              <a:rPr lang="en-US" sz="3600" dirty="0" err="1"/>
              <a:t>como</a:t>
            </a:r>
            <a:r>
              <a:rPr lang="en-US" sz="3600" dirty="0"/>
              <a:t> </a:t>
            </a:r>
            <a:r>
              <a:rPr lang="en-US" sz="3600" dirty="0" err="1"/>
              <a:t>valoración</a:t>
            </a:r>
            <a:r>
              <a:rPr lang="en-US" sz="3600" dirty="0"/>
              <a:t> de la </a:t>
            </a:r>
            <a:r>
              <a:rPr lang="en-US" sz="3600" dirty="0" err="1"/>
              <a:t>naturaleza</a:t>
            </a:r>
            <a:r>
              <a:rPr lang="en-US" sz="3600" dirty="0"/>
              <a:t> </a:t>
            </a:r>
            <a:r>
              <a:rPr lang="en-US" sz="3600" dirty="0" err="1"/>
              <a:t>humana</a:t>
            </a:r>
            <a:endParaRPr lang="en-US" sz="3600" dirty="0"/>
          </a:p>
          <a:p>
            <a:r>
              <a:rPr lang="en-US" sz="3600" dirty="0"/>
              <a:t>Vuelta al </a:t>
            </a:r>
            <a:r>
              <a:rPr lang="en-US" sz="3600" dirty="0" err="1"/>
              <a:t>clasicismo</a:t>
            </a:r>
            <a:r>
              <a:rPr lang="en-US" sz="3600" dirty="0"/>
              <a:t>: </a:t>
            </a:r>
            <a:r>
              <a:rPr lang="en-US" sz="3600" dirty="0" err="1"/>
              <a:t>valores</a:t>
            </a:r>
            <a:r>
              <a:rPr lang="en-US" sz="3600" dirty="0"/>
              <a:t> de la </a:t>
            </a:r>
            <a:r>
              <a:rPr lang="en-US" sz="3600" dirty="0" err="1"/>
              <a:t>simetría</a:t>
            </a:r>
            <a:r>
              <a:rPr lang="en-US" sz="3600" dirty="0"/>
              <a:t>, la </a:t>
            </a:r>
            <a:r>
              <a:rPr lang="en-US" sz="3600" dirty="0" err="1"/>
              <a:t>proporción</a:t>
            </a:r>
            <a:r>
              <a:rPr lang="en-US" sz="3600" dirty="0"/>
              <a:t> y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equilibrio</a:t>
            </a:r>
            <a:r>
              <a:rPr lang="en-US" sz="3600" dirty="0"/>
              <a:t> </a:t>
            </a:r>
            <a:r>
              <a:rPr lang="en-US" sz="3600" dirty="0" err="1"/>
              <a:t>aplicados</a:t>
            </a:r>
            <a:r>
              <a:rPr lang="en-US" sz="3600" dirty="0"/>
              <a:t> al </a:t>
            </a:r>
            <a:r>
              <a:rPr lang="en-US" sz="3600" dirty="0" err="1"/>
              <a:t>arte</a:t>
            </a:r>
            <a:r>
              <a:rPr lang="en-US" sz="3600" dirty="0"/>
              <a:t> y la </a:t>
            </a:r>
            <a:r>
              <a:rPr lang="en-US" sz="3600" dirty="0" err="1"/>
              <a:t>literatura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3645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B8E2-99AE-415C-AD65-FFACE9F3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4746-3B45-4EBF-84D9-332FC4059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Transformación</a:t>
            </a:r>
            <a:r>
              <a:rPr lang="en-US" sz="3600" dirty="0"/>
              <a:t> de la </a:t>
            </a:r>
            <a:r>
              <a:rPr lang="en-US" sz="3600" dirty="0" err="1"/>
              <a:t>sociedad</a:t>
            </a:r>
            <a:r>
              <a:rPr lang="en-US" sz="3600" dirty="0"/>
              <a:t> de la </a:t>
            </a:r>
            <a:r>
              <a:rPr lang="en-US" sz="3600" dirty="0" err="1"/>
              <a:t>doctrina</a:t>
            </a:r>
            <a:r>
              <a:rPr lang="en-US" sz="3600" dirty="0"/>
              <a:t> religiosa a </a:t>
            </a:r>
            <a:r>
              <a:rPr lang="en-US" sz="3600" dirty="0" err="1"/>
              <a:t>promover</a:t>
            </a:r>
            <a:r>
              <a:rPr lang="en-US" sz="3600" dirty="0"/>
              <a:t>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conocimiento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la </a:t>
            </a:r>
            <a:r>
              <a:rPr lang="en-US" sz="3600" dirty="0" err="1"/>
              <a:t>gente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general.</a:t>
            </a:r>
          </a:p>
          <a:p>
            <a:r>
              <a:rPr lang="en-US" sz="3600" dirty="0"/>
              <a:t>Libertad de </a:t>
            </a:r>
            <a:r>
              <a:rPr lang="en-US" sz="3600" dirty="0" err="1"/>
              <a:t>investigación</a:t>
            </a:r>
            <a:r>
              <a:rPr lang="en-US" sz="3600" dirty="0"/>
              <a:t> y </a:t>
            </a:r>
            <a:r>
              <a:rPr lang="en-US" sz="3600" dirty="0" err="1"/>
              <a:t>producción</a:t>
            </a:r>
            <a:r>
              <a:rPr lang="en-US" sz="3600" dirty="0"/>
              <a:t> </a:t>
            </a:r>
            <a:r>
              <a:rPr lang="en-US" sz="3600" dirty="0" err="1"/>
              <a:t>científica</a:t>
            </a:r>
            <a:r>
              <a:rPr lang="en-US" sz="3600" dirty="0"/>
              <a:t> y cultural.</a:t>
            </a:r>
          </a:p>
        </p:txBody>
      </p:sp>
    </p:spTree>
    <p:extLst>
      <p:ext uri="{BB962C8B-B14F-4D97-AF65-F5344CB8AC3E}">
        <p14:creationId xmlns:p14="http://schemas.microsoft.com/office/powerpoint/2010/main" val="235265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1A96D-41B1-4A7D-98FC-4AD98B7F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0DAF-3C7F-42F6-B981-C583E5CDA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Avances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las </a:t>
            </a:r>
            <a:r>
              <a:rPr lang="en-US" sz="3600" dirty="0" err="1"/>
              <a:t>ciencias</a:t>
            </a:r>
            <a:endParaRPr lang="en-US" sz="3600" dirty="0"/>
          </a:p>
          <a:p>
            <a:r>
              <a:rPr lang="en-US" sz="3600" dirty="0" err="1"/>
              <a:t>Valoración</a:t>
            </a:r>
            <a:r>
              <a:rPr lang="en-US" sz="3600" dirty="0"/>
              <a:t> de la </a:t>
            </a:r>
            <a:r>
              <a:rPr lang="en-US" sz="3600" dirty="0" err="1"/>
              <a:t>razón</a:t>
            </a:r>
            <a:r>
              <a:rPr lang="en-US" sz="3600" dirty="0"/>
              <a:t> </a:t>
            </a:r>
            <a:r>
              <a:rPr lang="en-US" sz="3600" dirty="0" err="1"/>
              <a:t>científica</a:t>
            </a:r>
            <a:r>
              <a:rPr lang="en-US" sz="3600" dirty="0"/>
              <a:t> y </a:t>
            </a:r>
            <a:r>
              <a:rPr lang="en-US" sz="3600" dirty="0" err="1"/>
              <a:t>filosófica</a:t>
            </a:r>
            <a:endParaRPr lang="en-US" sz="3600" dirty="0"/>
          </a:p>
          <a:p>
            <a:r>
              <a:rPr lang="en-US" sz="3600" dirty="0" err="1"/>
              <a:t>Estudio</a:t>
            </a:r>
            <a:r>
              <a:rPr lang="en-US" sz="3600" dirty="0"/>
              <a:t> y </a:t>
            </a:r>
            <a:r>
              <a:rPr lang="en-US" sz="3600" dirty="0" err="1"/>
              <a:t>aplicación</a:t>
            </a:r>
            <a:r>
              <a:rPr lang="en-US" sz="3600" dirty="0"/>
              <a:t> de la </a:t>
            </a:r>
            <a:r>
              <a:rPr lang="en-US" sz="3600" dirty="0" err="1"/>
              <a:t>naturaleza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las </a:t>
            </a:r>
            <a:r>
              <a:rPr lang="en-US" sz="3600" dirty="0" err="1"/>
              <a:t>artes</a:t>
            </a:r>
            <a:r>
              <a:rPr lang="en-US" sz="3600" dirty="0"/>
              <a:t> (</a:t>
            </a:r>
            <a:r>
              <a:rPr lang="en-US" sz="3600" dirty="0" err="1"/>
              <a:t>claroscuro</a:t>
            </a:r>
            <a:r>
              <a:rPr lang="en-US" sz="3600" dirty="0"/>
              <a:t>, </a:t>
            </a:r>
            <a:r>
              <a:rPr lang="en-US" sz="3600" dirty="0" err="1"/>
              <a:t>geometría</a:t>
            </a:r>
            <a:r>
              <a:rPr lang="en-US" sz="3600" dirty="0"/>
              <a:t> </a:t>
            </a:r>
            <a:r>
              <a:rPr lang="en-US" sz="3600" dirty="0" err="1"/>
              <a:t>espacial</a:t>
            </a:r>
            <a:r>
              <a:rPr lang="en-US" sz="3600" dirty="0"/>
              <a:t>, </a:t>
            </a:r>
            <a:r>
              <a:rPr lang="en-US" sz="3600" dirty="0" err="1"/>
              <a:t>anatomía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876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6C00-20E6-44C9-B7DA-33FA98EA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FBADD-C6AF-4735-92D7-8C8D38AA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Arte</a:t>
            </a:r>
            <a:r>
              <a:rPr lang="en-US" sz="3600" dirty="0"/>
              <a:t> </a:t>
            </a:r>
            <a:r>
              <a:rPr lang="en-US" sz="3600" dirty="0" err="1"/>
              <a:t>como</a:t>
            </a:r>
            <a:r>
              <a:rPr lang="en-US" sz="3600" dirty="0"/>
              <a:t> </a:t>
            </a:r>
            <a:r>
              <a:rPr lang="en-US" sz="3600" dirty="0" err="1"/>
              <a:t>conocimiento</a:t>
            </a:r>
            <a:endParaRPr lang="en-US" sz="3600" dirty="0"/>
          </a:p>
          <a:p>
            <a:r>
              <a:rPr lang="en-US" sz="3600" dirty="0" err="1"/>
              <a:t>Arte</a:t>
            </a:r>
            <a:r>
              <a:rPr lang="en-US" sz="3600" dirty="0"/>
              <a:t> </a:t>
            </a:r>
            <a:r>
              <a:rPr lang="en-US" sz="3600" dirty="0" err="1"/>
              <a:t>naturalista</a:t>
            </a:r>
            <a:r>
              <a:rPr lang="en-US" sz="3600" dirty="0"/>
              <a:t> e </a:t>
            </a:r>
            <a:r>
              <a:rPr lang="en-US" sz="3600" dirty="0" err="1"/>
              <a:t>idealista</a:t>
            </a:r>
            <a:r>
              <a:rPr lang="en-US" sz="3600" dirty="0"/>
              <a:t> </a:t>
            </a:r>
          </a:p>
          <a:p>
            <a:r>
              <a:rPr lang="en-US" sz="3600" dirty="0"/>
              <a:t>El </a:t>
            </a:r>
            <a:r>
              <a:rPr lang="en-US" sz="3600" dirty="0" err="1"/>
              <a:t>arte</a:t>
            </a:r>
            <a:r>
              <a:rPr lang="en-US" sz="3600" dirty="0"/>
              <a:t> </a:t>
            </a:r>
            <a:r>
              <a:rPr lang="en-US" sz="3600" dirty="0" err="1"/>
              <a:t>como</a:t>
            </a:r>
            <a:r>
              <a:rPr lang="en-US" sz="3600" dirty="0"/>
              <a:t> </a:t>
            </a:r>
            <a:r>
              <a:rPr lang="en-US" sz="3600" dirty="0" err="1"/>
              <a:t>inversión</a:t>
            </a:r>
            <a:r>
              <a:rPr lang="en-US" sz="3600" dirty="0"/>
              <a:t> </a:t>
            </a:r>
            <a:r>
              <a:rPr lang="en-US" sz="3600" dirty="0" err="1"/>
              <a:t>económica</a:t>
            </a:r>
            <a:endParaRPr lang="en-US" sz="3600" dirty="0"/>
          </a:p>
          <a:p>
            <a:r>
              <a:rPr lang="en-US" sz="3600" dirty="0"/>
              <a:t>Surge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mecenazgo</a:t>
            </a:r>
            <a:r>
              <a:rPr lang="en-US" sz="3600" dirty="0"/>
              <a:t> (</a:t>
            </a:r>
            <a:r>
              <a:rPr lang="en-US" sz="3600" dirty="0" err="1"/>
              <a:t>Cayo</a:t>
            </a:r>
            <a:r>
              <a:rPr lang="en-US" sz="3600" dirty="0"/>
              <a:t> </a:t>
            </a:r>
            <a:r>
              <a:rPr lang="en-US" sz="3600" dirty="0" err="1"/>
              <a:t>Mecenas</a:t>
            </a:r>
            <a:r>
              <a:rPr lang="en-US" sz="3600" dirty="0"/>
              <a:t>): </a:t>
            </a:r>
            <a:r>
              <a:rPr lang="en-US" sz="3600" dirty="0" err="1"/>
              <a:t>apoyo</a:t>
            </a:r>
            <a:r>
              <a:rPr lang="en-US" sz="3600" dirty="0"/>
              <a:t> </a:t>
            </a:r>
            <a:r>
              <a:rPr lang="en-US" sz="3600" dirty="0" err="1"/>
              <a:t>económico</a:t>
            </a:r>
            <a:r>
              <a:rPr lang="en-US" sz="3600" dirty="0"/>
              <a:t> a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artistas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00820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D8AC-E38B-C52C-767E-C534A280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394F4-0100-5E58-DB6E-DDA5C499A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Los </a:t>
            </a:r>
            <a:r>
              <a:rPr lang="en-US" sz="3600" dirty="0" err="1"/>
              <a:t>artistas</a:t>
            </a:r>
            <a:r>
              <a:rPr lang="en-US" sz="3600" dirty="0"/>
              <a:t> con </a:t>
            </a:r>
            <a:r>
              <a:rPr lang="en-US" sz="3600" dirty="0" err="1"/>
              <a:t>conocimiento</a:t>
            </a:r>
            <a:r>
              <a:rPr lang="en-US" sz="3600" dirty="0"/>
              <a:t> de </a:t>
            </a:r>
            <a:r>
              <a:rPr lang="en-US" sz="3600" dirty="0" err="1"/>
              <a:t>matemáticas</a:t>
            </a:r>
            <a:r>
              <a:rPr lang="en-US" sz="3600" dirty="0"/>
              <a:t>, </a:t>
            </a:r>
            <a:r>
              <a:rPr lang="en-US" sz="3600" dirty="0" err="1"/>
              <a:t>literatura</a:t>
            </a:r>
            <a:r>
              <a:rPr lang="en-US" sz="3600" dirty="0"/>
              <a:t>, </a:t>
            </a:r>
            <a:r>
              <a:rPr lang="en-US" sz="3600" dirty="0" err="1"/>
              <a:t>teología</a:t>
            </a:r>
            <a:r>
              <a:rPr lang="en-US" sz="3600" dirty="0"/>
              <a:t> y </a:t>
            </a:r>
            <a:r>
              <a:rPr lang="en-US" sz="3600" dirty="0" err="1"/>
              <a:t>filosofía</a:t>
            </a:r>
            <a:r>
              <a:rPr lang="en-US" sz="3600" dirty="0"/>
              <a:t> para </a:t>
            </a:r>
            <a:r>
              <a:rPr lang="en-US" sz="3600" dirty="0" err="1"/>
              <a:t>incorporarlos</a:t>
            </a:r>
            <a:r>
              <a:rPr lang="en-US" sz="3600" dirty="0"/>
              <a:t> a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temas</a:t>
            </a:r>
            <a:r>
              <a:rPr lang="en-US" sz="3600" dirty="0"/>
              <a:t> de sus </a:t>
            </a:r>
            <a:r>
              <a:rPr lang="en-US" sz="3600" dirty="0" err="1"/>
              <a:t>obras</a:t>
            </a:r>
            <a:r>
              <a:rPr lang="en-US" sz="3600" dirty="0"/>
              <a:t>. </a:t>
            </a:r>
          </a:p>
          <a:p>
            <a:r>
              <a:rPr lang="en-US" sz="3600" dirty="0"/>
              <a:t>El </a:t>
            </a:r>
            <a:r>
              <a:rPr lang="en-US" sz="3600" dirty="0" err="1"/>
              <a:t>arte</a:t>
            </a:r>
            <a:r>
              <a:rPr lang="en-US" sz="3600" dirty="0"/>
              <a:t> se plasma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torno</a:t>
            </a:r>
            <a:r>
              <a:rPr lang="en-US" sz="3600" dirty="0"/>
              <a:t> a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deseos</a:t>
            </a:r>
            <a:r>
              <a:rPr lang="en-US" sz="3600" dirty="0"/>
              <a:t> del ser </a:t>
            </a:r>
            <a:r>
              <a:rPr lang="en-US" sz="3600" dirty="0" err="1"/>
              <a:t>humano</a:t>
            </a:r>
            <a:r>
              <a:rPr lang="en-US" sz="3600" dirty="0"/>
              <a:t> (</a:t>
            </a:r>
            <a:r>
              <a:rPr lang="en-US" sz="3600" dirty="0" err="1"/>
              <a:t>desnudos</a:t>
            </a:r>
            <a:r>
              <a:rPr lang="en-US" sz="3600" dirty="0"/>
              <a:t>, </a:t>
            </a:r>
            <a:r>
              <a:rPr lang="en-US" sz="3600" dirty="0" err="1"/>
              <a:t>mitología</a:t>
            </a:r>
            <a:r>
              <a:rPr lang="en-US" sz="3600" dirty="0"/>
              <a:t> y </a:t>
            </a:r>
            <a:r>
              <a:rPr lang="en-US" sz="3600" dirty="0" err="1"/>
              <a:t>paisajes</a:t>
            </a:r>
            <a:r>
              <a:rPr lang="en-US" sz="3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6796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4B69-4C02-4622-BDF0-CF969F8EF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Características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01D10-2AF7-49F5-80F9-08DC2DD12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dirty="0"/>
              <a:t>Las </a:t>
            </a:r>
            <a:r>
              <a:rPr lang="en-US" sz="3600" dirty="0" err="1"/>
              <a:t>ciudades</a:t>
            </a:r>
            <a:r>
              <a:rPr lang="en-US" sz="3600" dirty="0"/>
              <a:t> </a:t>
            </a:r>
            <a:r>
              <a:rPr lang="en-US" sz="3600" dirty="0" err="1"/>
              <a:t>alcanzaron</a:t>
            </a:r>
            <a:r>
              <a:rPr lang="en-US" sz="3600" dirty="0"/>
              <a:t> auge </a:t>
            </a:r>
            <a:r>
              <a:rPr lang="en-US" sz="3600" dirty="0" err="1"/>
              <a:t>como</a:t>
            </a:r>
            <a:r>
              <a:rPr lang="en-US" sz="3600" dirty="0"/>
              <a:t> </a:t>
            </a:r>
            <a:r>
              <a:rPr lang="en-US" sz="3600" dirty="0" err="1"/>
              <a:t>centros</a:t>
            </a:r>
            <a:r>
              <a:rPr lang="en-US" sz="3600" dirty="0"/>
              <a:t> de </a:t>
            </a:r>
            <a:r>
              <a:rPr lang="en-US" sz="3600" dirty="0" err="1"/>
              <a:t>referencia</a:t>
            </a:r>
            <a:r>
              <a:rPr lang="en-US" sz="3600" dirty="0"/>
              <a:t> (la polis-ciudad </a:t>
            </a:r>
            <a:r>
              <a:rPr lang="en-US" sz="3600" dirty="0" err="1"/>
              <a:t>estado</a:t>
            </a:r>
            <a:r>
              <a:rPr lang="en-US" sz="3600" dirty="0"/>
              <a:t>).</a:t>
            </a:r>
          </a:p>
          <a:p>
            <a:r>
              <a:rPr lang="en-US" sz="3600" dirty="0"/>
              <a:t>Surge la </a:t>
            </a:r>
            <a:r>
              <a:rPr lang="en-US" sz="3600" dirty="0" err="1"/>
              <a:t>práctica</a:t>
            </a:r>
            <a:r>
              <a:rPr lang="en-US" sz="3600" dirty="0"/>
              <a:t> de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prestamistas</a:t>
            </a:r>
            <a:r>
              <a:rPr lang="en-US" sz="3600" dirty="0"/>
              <a:t> y la banca.</a:t>
            </a:r>
          </a:p>
          <a:p>
            <a:r>
              <a:rPr lang="en-US" sz="3600" dirty="0"/>
              <a:t>Se </a:t>
            </a:r>
            <a:r>
              <a:rPr lang="en-US" sz="3600" dirty="0" err="1"/>
              <a:t>desarrollan</a:t>
            </a:r>
            <a:r>
              <a:rPr lang="en-US" sz="3600" dirty="0"/>
              <a:t> las </a:t>
            </a:r>
            <a:r>
              <a:rPr lang="en-US" sz="3600" dirty="0" err="1"/>
              <a:t>universidades</a:t>
            </a:r>
            <a:r>
              <a:rPr lang="en-US" sz="3600" dirty="0"/>
              <a:t> para </a:t>
            </a:r>
            <a:r>
              <a:rPr lang="en-US" sz="3600" dirty="0" err="1"/>
              <a:t>estimular</a:t>
            </a:r>
            <a:r>
              <a:rPr lang="en-US" sz="3600" dirty="0"/>
              <a:t>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pensamiento</a:t>
            </a:r>
            <a:r>
              <a:rPr lang="en-US" sz="3600" dirty="0"/>
              <a:t> y </a:t>
            </a:r>
            <a:r>
              <a:rPr lang="en-US" sz="3600" dirty="0" err="1"/>
              <a:t>difundir</a:t>
            </a:r>
            <a:r>
              <a:rPr lang="en-US" sz="3600" dirty="0"/>
              <a:t>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humanismo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7842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A151-00C0-912F-3883-8EF52A27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Relación</a:t>
            </a:r>
            <a:r>
              <a:rPr lang="en-US" dirty="0"/>
              <a:t> del </a:t>
            </a:r>
            <a:r>
              <a:rPr lang="en-US" dirty="0" err="1"/>
              <a:t>humanismo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renacimiento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D641-9B2A-F5EA-46E3-231369B20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 err="1"/>
              <a:t>Sienta</a:t>
            </a:r>
            <a:r>
              <a:rPr lang="en-US" sz="3600" dirty="0"/>
              <a:t> la base para que </a:t>
            </a:r>
            <a:r>
              <a:rPr lang="en-US" sz="3600" dirty="0" err="1"/>
              <a:t>el</a:t>
            </a:r>
            <a:r>
              <a:rPr lang="en-US" sz="3600" dirty="0"/>
              <a:t> ser </a:t>
            </a:r>
            <a:r>
              <a:rPr lang="en-US" sz="3600" dirty="0" err="1"/>
              <a:t>humano</a:t>
            </a:r>
            <a:r>
              <a:rPr lang="en-US" sz="3600" dirty="0"/>
              <a:t> </a:t>
            </a:r>
            <a:r>
              <a:rPr lang="en-US" sz="3600" dirty="0" err="1"/>
              <a:t>piense</a:t>
            </a:r>
            <a:r>
              <a:rPr lang="en-US" sz="3600" dirty="0"/>
              <a:t> </a:t>
            </a:r>
            <a:r>
              <a:rPr lang="en-US" sz="3600" dirty="0" err="1"/>
              <a:t>como</a:t>
            </a:r>
            <a:r>
              <a:rPr lang="en-US" sz="3600" dirty="0"/>
              <a:t> un ser </a:t>
            </a:r>
            <a:r>
              <a:rPr lang="en-US" sz="3600" dirty="0" err="1"/>
              <a:t>intelectual</a:t>
            </a:r>
            <a:r>
              <a:rPr lang="en-US" sz="3600" dirty="0"/>
              <a:t>.</a:t>
            </a:r>
          </a:p>
          <a:p>
            <a:r>
              <a:rPr lang="en-US" sz="3600" dirty="0" err="1"/>
              <a:t>Aplicación</a:t>
            </a:r>
            <a:r>
              <a:rPr lang="en-US" sz="3600" dirty="0"/>
              <a:t> de las </a:t>
            </a:r>
            <a:r>
              <a:rPr lang="en-US" sz="3600" dirty="0" err="1"/>
              <a:t>capacidades</a:t>
            </a:r>
            <a:r>
              <a:rPr lang="en-US" sz="3600" dirty="0"/>
              <a:t> </a:t>
            </a:r>
            <a:r>
              <a:rPr lang="en-US" sz="3600" dirty="0" err="1"/>
              <a:t>humanas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el</a:t>
            </a:r>
            <a:r>
              <a:rPr lang="en-US" sz="3600" dirty="0"/>
              <a:t> campo </a:t>
            </a:r>
            <a:r>
              <a:rPr lang="en-US" sz="3600" dirty="0" err="1"/>
              <a:t>intelectual</a:t>
            </a:r>
            <a:r>
              <a:rPr lang="en-US" sz="3600" dirty="0"/>
              <a:t> y </a:t>
            </a:r>
            <a:r>
              <a:rPr lang="en-US" sz="3600" dirty="0" err="1"/>
              <a:t>artístico</a:t>
            </a:r>
            <a:r>
              <a:rPr lang="en-US" sz="3600" dirty="0"/>
              <a:t>.</a:t>
            </a:r>
          </a:p>
          <a:p>
            <a:r>
              <a:rPr lang="en-US" sz="3600" dirty="0"/>
              <a:t>Produce </a:t>
            </a:r>
            <a:r>
              <a:rPr lang="en-US" sz="3600" dirty="0" err="1"/>
              <a:t>nueva</a:t>
            </a:r>
            <a:r>
              <a:rPr lang="en-US" sz="3600" dirty="0"/>
              <a:t> </a:t>
            </a:r>
            <a:r>
              <a:rPr lang="en-US" sz="3600" dirty="0" err="1"/>
              <a:t>concepción</a:t>
            </a:r>
            <a:r>
              <a:rPr lang="en-US" sz="3600" dirty="0"/>
              <a:t> del </a:t>
            </a:r>
            <a:r>
              <a:rPr lang="en-US" sz="3600" dirty="0" err="1"/>
              <a:t>mundo</a:t>
            </a:r>
            <a:r>
              <a:rPr lang="en-US" sz="3600" dirty="0"/>
              <a:t> y del ser </a:t>
            </a:r>
            <a:r>
              <a:rPr lang="en-US" sz="3600" dirty="0" err="1"/>
              <a:t>humano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442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E5E9-A4CD-E302-EA9E-71419A14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Razones</a:t>
            </a:r>
            <a:r>
              <a:rPr lang="en-US" dirty="0"/>
              <a:t> que </a:t>
            </a:r>
            <a:r>
              <a:rPr lang="en-US" dirty="0" err="1"/>
              <a:t>motivaron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renacimiento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7CABA-2B5B-86A3-C820-61B95B06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La </a:t>
            </a:r>
            <a:r>
              <a:rPr lang="en-US" sz="3600" dirty="0" err="1"/>
              <a:t>invención</a:t>
            </a:r>
            <a:r>
              <a:rPr lang="en-US" sz="3600" dirty="0"/>
              <a:t> de la </a:t>
            </a:r>
            <a:r>
              <a:rPr lang="en-US" sz="3600" dirty="0" err="1"/>
              <a:t>imprenta</a:t>
            </a:r>
            <a:endParaRPr lang="en-US" sz="3600" dirty="0"/>
          </a:p>
          <a:p>
            <a:r>
              <a:rPr lang="en-US" sz="3600" dirty="0"/>
              <a:t>El </a:t>
            </a:r>
            <a:r>
              <a:rPr lang="en-US" sz="3600" dirty="0" err="1"/>
              <a:t>desarrollo</a:t>
            </a:r>
            <a:r>
              <a:rPr lang="en-US" sz="3600" dirty="0"/>
              <a:t> del </a:t>
            </a:r>
            <a:r>
              <a:rPr lang="en-US" sz="3600" dirty="0" err="1"/>
              <a:t>humanismo</a:t>
            </a:r>
            <a:endParaRPr lang="en-US" sz="3600" dirty="0"/>
          </a:p>
          <a:p>
            <a:r>
              <a:rPr lang="en-US" sz="3600" dirty="0"/>
              <a:t>La </a:t>
            </a:r>
            <a:r>
              <a:rPr lang="en-US" sz="3600" dirty="0" err="1"/>
              <a:t>propagación</a:t>
            </a:r>
            <a:r>
              <a:rPr lang="en-US" sz="3600" dirty="0"/>
              <a:t> de la </a:t>
            </a:r>
            <a:r>
              <a:rPr lang="en-US" sz="3600" dirty="0" err="1"/>
              <a:t>sabiduría</a:t>
            </a:r>
            <a:r>
              <a:rPr lang="en-US" sz="3600" dirty="0"/>
              <a:t> y la </a:t>
            </a:r>
            <a:r>
              <a:rPr lang="en-US" sz="3600" dirty="0" err="1"/>
              <a:t>cultura</a:t>
            </a:r>
            <a:r>
              <a:rPr lang="en-US" sz="3600" dirty="0"/>
              <a:t> </a:t>
            </a:r>
            <a:r>
              <a:rPr lang="en-US" sz="3600" dirty="0" err="1"/>
              <a:t>grecorromana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1820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DAC5-E58C-8ECB-25CB-E0EB5257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Razones</a:t>
            </a:r>
            <a:r>
              <a:rPr lang="en-US" dirty="0"/>
              <a:t> que </a:t>
            </a:r>
            <a:r>
              <a:rPr lang="en-US" dirty="0" err="1"/>
              <a:t>motivaron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renacimiento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620FB-E5AF-DAE1-7D91-75AF44B8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Secularización</a:t>
            </a:r>
            <a:r>
              <a:rPr lang="en-US" sz="3600" dirty="0"/>
              <a:t> del saber</a:t>
            </a:r>
          </a:p>
          <a:p>
            <a:r>
              <a:rPr lang="en-US" sz="3600" dirty="0"/>
              <a:t>Desarrollo de la </a:t>
            </a:r>
            <a:r>
              <a:rPr lang="en-US" sz="3600" dirty="0" err="1"/>
              <a:t>burguesía</a:t>
            </a:r>
            <a:r>
              <a:rPr lang="en-US" sz="3600" dirty="0"/>
              <a:t> para </a:t>
            </a:r>
            <a:r>
              <a:rPr lang="en-US" sz="3600" dirty="0" err="1"/>
              <a:t>liberar</a:t>
            </a:r>
            <a:r>
              <a:rPr lang="en-US" sz="3600" dirty="0"/>
              <a:t> </a:t>
            </a:r>
            <a:r>
              <a:rPr lang="en-US" sz="3600" dirty="0" err="1"/>
              <a:t>su</a:t>
            </a:r>
            <a:r>
              <a:rPr lang="en-US" sz="3600" dirty="0"/>
              <a:t> </a:t>
            </a:r>
            <a:r>
              <a:rPr lang="en-US" sz="3600" dirty="0" err="1"/>
              <a:t>fuerza</a:t>
            </a:r>
            <a:r>
              <a:rPr lang="en-US" sz="3600" dirty="0"/>
              <a:t> </a:t>
            </a:r>
            <a:r>
              <a:rPr lang="en-US" sz="3600" dirty="0" err="1"/>
              <a:t>económica</a:t>
            </a:r>
            <a:r>
              <a:rPr lang="en-US" sz="3600" dirty="0"/>
              <a:t> y </a:t>
            </a:r>
            <a:r>
              <a:rPr lang="en-US" sz="3600" dirty="0" err="1"/>
              <a:t>alcanzar</a:t>
            </a:r>
            <a:r>
              <a:rPr lang="en-US" sz="3600" dirty="0"/>
              <a:t> </a:t>
            </a:r>
            <a:r>
              <a:rPr lang="en-US" sz="3600" dirty="0" err="1"/>
              <a:t>espacios</a:t>
            </a:r>
            <a:r>
              <a:rPr lang="en-US" sz="3600" dirty="0"/>
              <a:t> de </a:t>
            </a:r>
            <a:r>
              <a:rPr lang="en-US" sz="3600" dirty="0" err="1"/>
              <a:t>poder</a:t>
            </a:r>
            <a:r>
              <a:rPr lang="en-US" sz="3600" dirty="0"/>
              <a:t> </a:t>
            </a:r>
            <a:r>
              <a:rPr lang="en-US" sz="3600" dirty="0" err="1"/>
              <a:t>político</a:t>
            </a:r>
            <a:r>
              <a:rPr lang="en-US" sz="3600" dirty="0"/>
              <a:t> para </a:t>
            </a:r>
            <a:r>
              <a:rPr lang="en-US" sz="3600" dirty="0" err="1"/>
              <a:t>dirigir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3171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9564-92B3-4AE8-7BFA-56E23609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Consecuencias</a:t>
            </a:r>
            <a:r>
              <a:rPr lang="en-US" dirty="0"/>
              <a:t> de la </a:t>
            </a:r>
            <a:r>
              <a:rPr lang="en-US" dirty="0" err="1"/>
              <a:t>filosofía</a:t>
            </a:r>
            <a:r>
              <a:rPr lang="en-US" dirty="0"/>
              <a:t> </a:t>
            </a:r>
            <a:r>
              <a:rPr lang="en-US" dirty="0" err="1"/>
              <a:t>renacentista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DDB8-463D-B6C5-1517-66DE3B71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Desinterés</a:t>
            </a:r>
            <a:r>
              <a:rPr lang="en-US" sz="3600" dirty="0"/>
              <a:t> </a:t>
            </a:r>
            <a:r>
              <a:rPr lang="en-US" sz="3600" dirty="0" err="1"/>
              <a:t>por</a:t>
            </a:r>
            <a:r>
              <a:rPr lang="en-US" sz="3600" dirty="0"/>
              <a:t>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asuntos</a:t>
            </a:r>
            <a:r>
              <a:rPr lang="en-US" sz="3600" dirty="0"/>
              <a:t> </a:t>
            </a:r>
            <a:r>
              <a:rPr lang="en-US" sz="3600" dirty="0" err="1"/>
              <a:t>religiosos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             *</a:t>
            </a:r>
            <a:r>
              <a:rPr lang="en-US" sz="3600" dirty="0" err="1"/>
              <a:t>antropocentrismo</a:t>
            </a:r>
            <a:endParaRPr lang="en-US" sz="3600" dirty="0"/>
          </a:p>
          <a:p>
            <a:r>
              <a:rPr lang="en-US" sz="3600" dirty="0"/>
              <a:t>La </a:t>
            </a:r>
            <a:r>
              <a:rPr lang="en-US" sz="3600" dirty="0" err="1"/>
              <a:t>reforma</a:t>
            </a:r>
            <a:r>
              <a:rPr lang="en-US" sz="3600" dirty="0"/>
              <a:t> </a:t>
            </a:r>
            <a:r>
              <a:rPr lang="en-US" sz="3600" dirty="0" err="1"/>
              <a:t>protestante</a:t>
            </a:r>
            <a:endParaRPr lang="en-US" sz="3600" dirty="0"/>
          </a:p>
          <a:p>
            <a:r>
              <a:rPr lang="en-US" sz="3600" dirty="0"/>
              <a:t>Una </a:t>
            </a:r>
            <a:r>
              <a:rPr lang="en-US" sz="3600" dirty="0" err="1"/>
              <a:t>vuelta</a:t>
            </a:r>
            <a:r>
              <a:rPr lang="en-US" sz="3600" dirty="0"/>
              <a:t> al </a:t>
            </a:r>
            <a:r>
              <a:rPr lang="en-US" sz="3600" dirty="0" err="1"/>
              <a:t>interés</a:t>
            </a:r>
            <a:r>
              <a:rPr lang="en-US" sz="3600" dirty="0"/>
              <a:t> </a:t>
            </a:r>
            <a:r>
              <a:rPr lang="en-US" sz="3600" dirty="0" err="1"/>
              <a:t>por</a:t>
            </a:r>
            <a:r>
              <a:rPr lang="en-US" sz="3600" dirty="0"/>
              <a:t> las </a:t>
            </a:r>
            <a:r>
              <a:rPr lang="en-US" sz="3600" dirty="0" err="1"/>
              <a:t>obras</a:t>
            </a:r>
            <a:r>
              <a:rPr lang="en-US" sz="3600" dirty="0"/>
              <a:t> y </a:t>
            </a:r>
            <a:r>
              <a:rPr lang="en-US" sz="3600" dirty="0" err="1"/>
              <a:t>temas</a:t>
            </a:r>
            <a:r>
              <a:rPr lang="en-US" sz="3600" dirty="0"/>
              <a:t> </a:t>
            </a:r>
            <a:r>
              <a:rPr lang="en-US" sz="3600" dirty="0" err="1"/>
              <a:t>clásicos</a:t>
            </a:r>
            <a:r>
              <a:rPr lang="en-US" sz="3600" dirty="0"/>
              <a:t> que </a:t>
            </a:r>
            <a:r>
              <a:rPr lang="en-US" sz="3600" dirty="0" err="1"/>
              <a:t>renueva</a:t>
            </a:r>
            <a:r>
              <a:rPr lang="en-US" sz="3600" dirty="0"/>
              <a:t> la </a:t>
            </a:r>
            <a:r>
              <a:rPr lang="en-US" sz="3600" dirty="0" err="1"/>
              <a:t>cultura</a:t>
            </a:r>
            <a:r>
              <a:rPr lang="en-US" sz="3600" dirty="0"/>
              <a:t> </a:t>
            </a:r>
            <a:r>
              <a:rPr lang="en-US" sz="3600" dirty="0" err="1"/>
              <a:t>grecolatina</a:t>
            </a:r>
            <a:r>
              <a:rPr lang="en-US" sz="3600" dirty="0"/>
              <a:t>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57292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FC5D-EC3F-C6FA-5780-FC40B2D20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Consecuencias</a:t>
            </a:r>
            <a:r>
              <a:rPr lang="en-US" dirty="0"/>
              <a:t> de la </a:t>
            </a:r>
            <a:r>
              <a:rPr lang="en-US" dirty="0" err="1"/>
              <a:t>filosofía</a:t>
            </a:r>
            <a:r>
              <a:rPr lang="en-US" dirty="0"/>
              <a:t> </a:t>
            </a:r>
            <a:r>
              <a:rPr lang="en-US" dirty="0" err="1"/>
              <a:t>renacentista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80DA-9AEA-C8DA-7270-BE6D49DA2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dirty="0"/>
              <a:t>Se </a:t>
            </a:r>
            <a:r>
              <a:rPr lang="en-US" sz="3600" dirty="0" err="1"/>
              <a:t>sientan</a:t>
            </a:r>
            <a:r>
              <a:rPr lang="en-US" sz="3600" dirty="0"/>
              <a:t> las bases para la </a:t>
            </a:r>
            <a:r>
              <a:rPr lang="en-US" sz="3600" dirty="0" err="1"/>
              <a:t>política</a:t>
            </a:r>
            <a:r>
              <a:rPr lang="en-US" sz="3600" dirty="0"/>
              <a:t> </a:t>
            </a:r>
            <a:r>
              <a:rPr lang="en-US" sz="3600" dirty="0" err="1"/>
              <a:t>moderna</a:t>
            </a:r>
            <a:r>
              <a:rPr lang="en-US" sz="3600" dirty="0"/>
              <a:t>.</a:t>
            </a:r>
          </a:p>
          <a:p>
            <a:r>
              <a:rPr lang="en-US" sz="3600" dirty="0" err="1"/>
              <a:t>Logros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ciencias</a:t>
            </a:r>
            <a:r>
              <a:rPr lang="en-US" sz="3600" dirty="0"/>
              <a:t> y </a:t>
            </a:r>
            <a:r>
              <a:rPr lang="en-US" sz="3600" dirty="0" err="1"/>
              <a:t>artes</a:t>
            </a:r>
            <a:r>
              <a:rPr lang="en-US" sz="3600" dirty="0"/>
              <a:t>.</a:t>
            </a:r>
          </a:p>
          <a:p>
            <a:r>
              <a:rPr lang="en-US" sz="3600" dirty="0" err="1"/>
              <a:t>Teoría</a:t>
            </a:r>
            <a:r>
              <a:rPr lang="en-US" sz="3600" dirty="0"/>
              <a:t> </a:t>
            </a:r>
            <a:r>
              <a:rPr lang="en-US" sz="3600" dirty="0" err="1"/>
              <a:t>heliocéntrica</a:t>
            </a:r>
            <a:r>
              <a:rPr lang="en-US" sz="3600" dirty="0"/>
              <a:t> de </a:t>
            </a:r>
            <a:r>
              <a:rPr lang="en-US" sz="3600" dirty="0" err="1"/>
              <a:t>Copérnico</a:t>
            </a:r>
            <a:r>
              <a:rPr lang="en-US" sz="3600" dirty="0"/>
              <a:t> (tierra-sol)</a:t>
            </a:r>
          </a:p>
          <a:p>
            <a:r>
              <a:rPr lang="en-US" sz="3600" dirty="0"/>
              <a:t>Bases de la </a:t>
            </a:r>
            <a:r>
              <a:rPr lang="en-US" sz="3600" dirty="0" err="1"/>
              <a:t>astronomía</a:t>
            </a:r>
            <a:r>
              <a:rPr lang="en-US" sz="3600" dirty="0"/>
              <a:t> y la </a:t>
            </a:r>
            <a:r>
              <a:rPr lang="en-US" sz="3600" dirty="0" err="1"/>
              <a:t>física</a:t>
            </a:r>
            <a:r>
              <a:rPr lang="en-US" sz="3600" dirty="0"/>
              <a:t> </a:t>
            </a:r>
            <a:r>
              <a:rPr lang="en-US" sz="3600" dirty="0" err="1"/>
              <a:t>moderna</a:t>
            </a:r>
            <a:r>
              <a:rPr lang="en-US" sz="3600"/>
              <a:t>        (</a:t>
            </a:r>
            <a:r>
              <a:rPr lang="en-US" sz="3600" dirty="0"/>
              <a:t>G. G.)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98700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E9E8-44EE-638F-D7A6-07445BDC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Consecuencias</a:t>
            </a:r>
            <a:r>
              <a:rPr lang="en-US" dirty="0"/>
              <a:t> de la </a:t>
            </a:r>
            <a:r>
              <a:rPr lang="en-US" dirty="0" err="1"/>
              <a:t>filosofía</a:t>
            </a:r>
            <a:r>
              <a:rPr lang="en-US" dirty="0"/>
              <a:t> </a:t>
            </a:r>
            <a:r>
              <a:rPr lang="en-US" dirty="0" err="1"/>
              <a:t>renacentista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1DA1-2F37-F853-401A-32BA445CF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Invención</a:t>
            </a:r>
            <a:r>
              <a:rPr lang="en-US" sz="3600" dirty="0"/>
              <a:t> del </a:t>
            </a:r>
            <a:r>
              <a:rPr lang="en-US" sz="3600" dirty="0" err="1"/>
              <a:t>helicóptero</a:t>
            </a:r>
            <a:r>
              <a:rPr lang="en-US" sz="3600" dirty="0"/>
              <a:t>,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paracaídas</a:t>
            </a:r>
            <a:r>
              <a:rPr lang="en-US" sz="3600" dirty="0"/>
              <a:t>, las </a:t>
            </a:r>
            <a:r>
              <a:rPr lang="en-US" sz="3600" dirty="0" err="1"/>
              <a:t>tijeras</a:t>
            </a:r>
            <a:r>
              <a:rPr lang="en-US" sz="3600" dirty="0"/>
              <a:t>, </a:t>
            </a:r>
            <a:r>
              <a:rPr lang="en-US" sz="3600" dirty="0" err="1"/>
              <a:t>el</a:t>
            </a:r>
            <a:r>
              <a:rPr lang="en-US" sz="3600" dirty="0"/>
              <a:t> </a:t>
            </a:r>
            <a:r>
              <a:rPr lang="en-US" sz="3600" dirty="0" err="1"/>
              <a:t>traje</a:t>
            </a:r>
            <a:r>
              <a:rPr lang="en-US" sz="3600" dirty="0"/>
              <a:t> de </a:t>
            </a:r>
            <a:r>
              <a:rPr lang="en-US" sz="3600" dirty="0" err="1"/>
              <a:t>buzo</a:t>
            </a:r>
            <a:r>
              <a:rPr lang="en-US" sz="3600" dirty="0"/>
              <a:t>, </a:t>
            </a:r>
            <a:r>
              <a:rPr lang="en-US" sz="3600" dirty="0" err="1"/>
              <a:t>artefactos</a:t>
            </a:r>
            <a:r>
              <a:rPr lang="en-US" sz="3600" dirty="0"/>
              <a:t> </a:t>
            </a:r>
            <a:r>
              <a:rPr lang="en-US" sz="3600" dirty="0" err="1"/>
              <a:t>bélicos</a:t>
            </a:r>
            <a:endParaRPr lang="en-US" sz="3600" dirty="0"/>
          </a:p>
          <a:p>
            <a:r>
              <a:rPr lang="en-US" sz="3600" dirty="0" err="1"/>
              <a:t>Aplicación</a:t>
            </a:r>
            <a:r>
              <a:rPr lang="en-US" sz="3600" dirty="0"/>
              <a:t> del </a:t>
            </a:r>
            <a:r>
              <a:rPr lang="en-US" sz="3600" dirty="0" err="1"/>
              <a:t>método</a:t>
            </a:r>
            <a:r>
              <a:rPr lang="en-US" sz="3600" dirty="0"/>
              <a:t> </a:t>
            </a:r>
            <a:r>
              <a:rPr lang="en-US" sz="3600" dirty="0" err="1"/>
              <a:t>científico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5791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95D7-A3C8-4E1F-9128-7A0BD72E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Artes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cultivadas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C191-520C-4570-8DF8-7A1FB16A9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Desarrollo de las </a:t>
            </a:r>
            <a:r>
              <a:rPr lang="en-US" sz="3600" dirty="0" err="1"/>
              <a:t>artes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sz="3600" dirty="0"/>
              <a:t>           </a:t>
            </a:r>
            <a:r>
              <a:rPr lang="en-US" sz="3600" dirty="0" err="1"/>
              <a:t>literatura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           </a:t>
            </a:r>
            <a:r>
              <a:rPr lang="en-US" sz="3600" dirty="0" err="1"/>
              <a:t>escultura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           </a:t>
            </a:r>
            <a:r>
              <a:rPr lang="en-US" sz="3600" dirty="0" err="1"/>
              <a:t>arquitectura</a:t>
            </a:r>
            <a:endParaRPr lang="en-US" sz="3600" dirty="0"/>
          </a:p>
          <a:p>
            <a:pPr marL="0" indent="0">
              <a:buNone/>
            </a:pPr>
            <a:r>
              <a:rPr lang="en-US" sz="3600" dirty="0"/>
              <a:t>           pintura (</a:t>
            </a:r>
            <a:r>
              <a:rPr lang="en-US" sz="3600" dirty="0" err="1"/>
              <a:t>óleo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1789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8F66-78A1-47D3-B2AE-57607C16D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Temas</a:t>
            </a:r>
            <a:r>
              <a:rPr lang="en-US" sz="4000" dirty="0"/>
              <a:t> </a:t>
            </a:r>
            <a:r>
              <a:rPr lang="en-US" sz="4000" dirty="0" err="1"/>
              <a:t>predominantes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F199C-CE54-43AE-B06A-82187EB6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700" y="2451652"/>
            <a:ext cx="8770571" cy="3651504"/>
          </a:xfrm>
        </p:spPr>
        <p:txBody>
          <a:bodyPr>
            <a:normAutofit/>
          </a:bodyPr>
          <a:lstStyle/>
          <a:p>
            <a:r>
              <a:rPr lang="en-US" sz="3200" dirty="0"/>
              <a:t>El carpe diem</a:t>
            </a:r>
          </a:p>
          <a:p>
            <a:r>
              <a:rPr lang="en-US" sz="3200" dirty="0"/>
              <a:t>La </a:t>
            </a:r>
            <a:r>
              <a:rPr lang="en-US" sz="3200" dirty="0" err="1"/>
              <a:t>naturaleza</a:t>
            </a:r>
            <a:endParaRPr lang="en-US" sz="3200" dirty="0"/>
          </a:p>
          <a:p>
            <a:r>
              <a:rPr lang="en-US" sz="3200" dirty="0"/>
              <a:t>El amor</a:t>
            </a:r>
          </a:p>
          <a:p>
            <a:r>
              <a:rPr lang="en-US" sz="3200" dirty="0"/>
              <a:t>La </a:t>
            </a:r>
            <a:r>
              <a:rPr lang="en-US" sz="3200" dirty="0" err="1"/>
              <a:t>mitología</a:t>
            </a:r>
            <a:r>
              <a:rPr lang="en-US" sz="3200" dirty="0"/>
              <a:t> </a:t>
            </a:r>
            <a:r>
              <a:rPr lang="en-US" sz="3200" dirty="0" err="1"/>
              <a:t>clásica</a:t>
            </a:r>
            <a:endParaRPr lang="en-US" sz="3200" dirty="0"/>
          </a:p>
          <a:p>
            <a:r>
              <a:rPr lang="en-US" sz="3200" dirty="0" err="1"/>
              <a:t>Temas</a:t>
            </a:r>
            <a:r>
              <a:rPr lang="en-US" sz="3200" dirty="0"/>
              <a:t> </a:t>
            </a:r>
            <a:r>
              <a:rPr lang="en-US" sz="3200" dirty="0" err="1"/>
              <a:t>religiosos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5848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01C2-1C79-4ADB-819A-713E62F4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Temas</a:t>
            </a:r>
            <a:r>
              <a:rPr lang="en-US" sz="4000" dirty="0"/>
              <a:t> </a:t>
            </a:r>
            <a:r>
              <a:rPr lang="en-US" sz="4000" dirty="0" err="1"/>
              <a:t>predominantes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286D2-EC1E-4101-80F6-A4709BEDA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Crítica</a:t>
            </a:r>
            <a:r>
              <a:rPr lang="en-US" sz="3200" dirty="0"/>
              <a:t> social y a la </a:t>
            </a:r>
            <a:r>
              <a:rPr lang="en-US" sz="3200" dirty="0" err="1"/>
              <a:t>iglesia</a:t>
            </a:r>
            <a:endParaRPr lang="en-US" sz="3200" dirty="0"/>
          </a:p>
          <a:p>
            <a:r>
              <a:rPr lang="en-US" sz="3200" dirty="0" err="1"/>
              <a:t>Historias</a:t>
            </a:r>
            <a:r>
              <a:rPr lang="en-US" sz="3200" dirty="0"/>
              <a:t> de caballeros andantes</a:t>
            </a:r>
          </a:p>
          <a:p>
            <a:r>
              <a:rPr lang="en-US" sz="3200" dirty="0"/>
              <a:t>El </a:t>
            </a:r>
            <a:r>
              <a:rPr lang="en-US" sz="3200"/>
              <a:t>individualismo</a:t>
            </a:r>
            <a:endParaRPr lang="en-US" sz="3200" dirty="0"/>
          </a:p>
          <a:p>
            <a:r>
              <a:rPr lang="en-US" sz="3200" dirty="0"/>
              <a:t>La </a:t>
            </a:r>
            <a:r>
              <a:rPr lang="en-US" sz="3200" dirty="0" err="1"/>
              <a:t>fe</a:t>
            </a:r>
            <a:r>
              <a:rPr lang="en-US" sz="3200" dirty="0"/>
              <a:t> </a:t>
            </a:r>
            <a:r>
              <a:rPr lang="en-US" sz="3200" dirty="0" err="1"/>
              <a:t>basada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la </a:t>
            </a:r>
            <a:r>
              <a:rPr lang="en-US" sz="3200" dirty="0" err="1"/>
              <a:t>razón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0996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0DB8-2262-42AA-8924-FBBBB522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Género</a:t>
            </a:r>
            <a:r>
              <a:rPr lang="en-US" sz="4000" dirty="0"/>
              <a:t> </a:t>
            </a:r>
            <a:r>
              <a:rPr lang="en-US" sz="4000" dirty="0" err="1"/>
              <a:t>literarios</a:t>
            </a:r>
            <a:r>
              <a:rPr lang="en-US" sz="4000" dirty="0"/>
              <a:t> </a:t>
            </a:r>
            <a:r>
              <a:rPr lang="en-US" sz="4000" dirty="0" err="1"/>
              <a:t>cultivados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01EA-41BF-4197-8D98-48033E74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Poesía</a:t>
            </a:r>
            <a:r>
              <a:rPr lang="en-US" sz="3200" dirty="0"/>
              <a:t> *</a:t>
            </a:r>
          </a:p>
          <a:p>
            <a:r>
              <a:rPr lang="en-US" sz="3200" dirty="0" err="1"/>
              <a:t>Novela</a:t>
            </a:r>
            <a:endParaRPr lang="en-US" sz="3200" dirty="0"/>
          </a:p>
          <a:p>
            <a:r>
              <a:rPr lang="en-US" sz="3200" dirty="0"/>
              <a:t>Drama </a:t>
            </a:r>
          </a:p>
          <a:p>
            <a:r>
              <a:rPr lang="en-US" sz="3200" dirty="0" err="1"/>
              <a:t>Ensayo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12379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DF87-8607-4FFB-B712-BAAF1F7D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Artistas clave del </a:t>
            </a:r>
            <a:r>
              <a:rPr lang="en-US" sz="4000" dirty="0" err="1"/>
              <a:t>renacimiento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40F93-2609-4932-891D-486BDB87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Leonardo Da Vinci (</a:t>
            </a:r>
            <a:r>
              <a:rPr lang="en-US" sz="3600" dirty="0" err="1"/>
              <a:t>pintor</a:t>
            </a:r>
            <a:r>
              <a:rPr lang="en-US" sz="3600" dirty="0"/>
              <a:t>, </a:t>
            </a:r>
            <a:r>
              <a:rPr lang="en-US" sz="3600" dirty="0" err="1"/>
              <a:t>botánico</a:t>
            </a:r>
            <a:r>
              <a:rPr lang="en-US" sz="3600" dirty="0"/>
              <a:t>, </a:t>
            </a:r>
            <a:r>
              <a:rPr lang="en-US" sz="3600" dirty="0" err="1"/>
              <a:t>paleontólogo</a:t>
            </a:r>
            <a:r>
              <a:rPr lang="en-US" sz="3600" dirty="0"/>
              <a:t>, </a:t>
            </a:r>
            <a:r>
              <a:rPr lang="en-US" sz="3600" dirty="0" err="1"/>
              <a:t>arquitecto</a:t>
            </a:r>
            <a:r>
              <a:rPr lang="en-US" sz="3600" dirty="0"/>
              <a:t>, </a:t>
            </a:r>
            <a:r>
              <a:rPr lang="en-US" sz="3600" dirty="0" err="1"/>
              <a:t>escultor</a:t>
            </a:r>
            <a:r>
              <a:rPr lang="en-US" sz="3600" dirty="0"/>
              <a:t>, </a:t>
            </a:r>
            <a:r>
              <a:rPr lang="en-US" sz="3600" dirty="0" err="1"/>
              <a:t>escritor</a:t>
            </a:r>
            <a:r>
              <a:rPr lang="en-US" sz="3600" dirty="0"/>
              <a:t>, </a:t>
            </a:r>
            <a:r>
              <a:rPr lang="en-US" sz="3600" dirty="0" err="1"/>
              <a:t>filósofo</a:t>
            </a:r>
            <a:r>
              <a:rPr lang="en-US" sz="3600" dirty="0"/>
              <a:t>, </a:t>
            </a:r>
            <a:r>
              <a:rPr lang="en-US" sz="3600" dirty="0" err="1"/>
              <a:t>ingeniero</a:t>
            </a:r>
            <a:r>
              <a:rPr lang="en-US" sz="3600" dirty="0"/>
              <a:t>, inventor, </a:t>
            </a:r>
            <a:r>
              <a:rPr lang="en-US" sz="3600" dirty="0" err="1"/>
              <a:t>músico</a:t>
            </a:r>
            <a:r>
              <a:rPr lang="en-US" sz="3600" dirty="0"/>
              <a:t>, </a:t>
            </a:r>
            <a:r>
              <a:rPr lang="en-US" sz="3600" dirty="0" err="1"/>
              <a:t>poeta</a:t>
            </a:r>
            <a:r>
              <a:rPr lang="en-US" sz="3600" dirty="0"/>
              <a:t>, </a:t>
            </a:r>
            <a:r>
              <a:rPr lang="en-US" sz="3600" dirty="0" err="1"/>
              <a:t>anatomista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4244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EC7F-88AD-40F8-B3F0-9BEC308B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Artistas clave del </a:t>
            </a:r>
            <a:r>
              <a:rPr lang="en-US" sz="4400" dirty="0" err="1"/>
              <a:t>renacimiento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0C34-9BF6-489F-AAB6-477FBB697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Miguel </a:t>
            </a:r>
            <a:r>
              <a:rPr lang="en-US" sz="3600" dirty="0" err="1"/>
              <a:t>Ángel</a:t>
            </a:r>
            <a:r>
              <a:rPr lang="en-US" sz="3600" dirty="0"/>
              <a:t> (</a:t>
            </a:r>
            <a:r>
              <a:rPr lang="en-US" sz="3600" dirty="0" err="1"/>
              <a:t>arquitecto</a:t>
            </a:r>
            <a:r>
              <a:rPr lang="en-US" sz="3600" dirty="0"/>
              <a:t>, </a:t>
            </a:r>
            <a:r>
              <a:rPr lang="en-US" sz="3600" dirty="0" err="1"/>
              <a:t>escultor</a:t>
            </a:r>
            <a:r>
              <a:rPr lang="en-US" sz="3600" dirty="0"/>
              <a:t>, </a:t>
            </a:r>
            <a:r>
              <a:rPr lang="en-US" sz="3600" dirty="0" err="1"/>
              <a:t>pintor</a:t>
            </a:r>
            <a:r>
              <a:rPr lang="en-US" sz="3600" dirty="0"/>
              <a:t>, </a:t>
            </a:r>
            <a:r>
              <a:rPr lang="en-US" sz="3600" dirty="0" err="1"/>
              <a:t>poeta</a:t>
            </a:r>
            <a:r>
              <a:rPr lang="en-US" sz="3600" dirty="0"/>
              <a:t>)</a:t>
            </a:r>
          </a:p>
          <a:p>
            <a:r>
              <a:rPr lang="en-US" sz="3600" dirty="0" err="1"/>
              <a:t>Tiziano</a:t>
            </a:r>
            <a:r>
              <a:rPr lang="en-US" sz="3600" dirty="0"/>
              <a:t> (</a:t>
            </a:r>
            <a:r>
              <a:rPr lang="en-US" sz="3600" dirty="0" err="1"/>
              <a:t>pintor</a:t>
            </a:r>
            <a:r>
              <a:rPr lang="en-US" sz="3600" dirty="0"/>
              <a:t>)</a:t>
            </a:r>
          </a:p>
          <a:p>
            <a:r>
              <a:rPr lang="en-US" sz="3600" dirty="0"/>
              <a:t>Rafael </a:t>
            </a:r>
            <a:r>
              <a:rPr lang="en-US" sz="3600" dirty="0" err="1"/>
              <a:t>Sanzio</a:t>
            </a:r>
            <a:r>
              <a:rPr lang="en-US" sz="3600" dirty="0"/>
              <a:t> (</a:t>
            </a:r>
            <a:r>
              <a:rPr lang="en-US" sz="3600" dirty="0" err="1"/>
              <a:t>pintor</a:t>
            </a:r>
            <a:r>
              <a:rPr lang="en-US" sz="3600" dirty="0"/>
              <a:t>)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56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7A9E-B4B5-4BBD-B55A-86EC9136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Escritores</a:t>
            </a:r>
            <a:r>
              <a:rPr lang="en-US" sz="4000" dirty="0"/>
              <a:t> clave del </a:t>
            </a:r>
            <a:r>
              <a:rPr lang="en-US" sz="4000" dirty="0" err="1"/>
              <a:t>renacimiento</a:t>
            </a:r>
            <a:r>
              <a:rPr lang="en-US" sz="4000" dirty="0"/>
              <a:t> </a:t>
            </a:r>
            <a:r>
              <a:rPr lang="en-US" sz="4000" dirty="0" err="1"/>
              <a:t>en</a:t>
            </a:r>
            <a:r>
              <a:rPr lang="en-US" sz="4000" dirty="0"/>
              <a:t>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227E-BD1F-4020-8B37-70AB12C1E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*Leonardo da Vinci</a:t>
            </a:r>
          </a:p>
          <a:p>
            <a:r>
              <a:rPr lang="en-US" sz="3600" dirty="0"/>
              <a:t>Nicolás </a:t>
            </a:r>
            <a:r>
              <a:rPr lang="en-US" sz="3600" dirty="0" err="1"/>
              <a:t>Maquiavelo</a:t>
            </a:r>
            <a:endParaRPr lang="en-US" sz="3600" dirty="0"/>
          </a:p>
          <a:p>
            <a:r>
              <a:rPr lang="en-US" sz="3600" dirty="0"/>
              <a:t>William Shakespeare</a:t>
            </a:r>
          </a:p>
          <a:p>
            <a:r>
              <a:rPr lang="en-US" sz="3600" dirty="0"/>
              <a:t>Martín </a:t>
            </a:r>
            <a:r>
              <a:rPr lang="en-US" sz="3600" dirty="0" err="1"/>
              <a:t>Lutero</a:t>
            </a:r>
            <a:endParaRPr lang="en-US" sz="3600" dirty="0"/>
          </a:p>
          <a:p>
            <a:r>
              <a:rPr lang="en-US" sz="3600" dirty="0"/>
              <a:t>*</a:t>
            </a:r>
            <a:r>
              <a:rPr lang="en-US" sz="3600" dirty="0" err="1"/>
              <a:t>Petrarca</a:t>
            </a:r>
            <a:r>
              <a:rPr lang="en-US" sz="3600" dirty="0"/>
              <a:t> (</a:t>
            </a:r>
            <a:r>
              <a:rPr lang="en-US" sz="3600" dirty="0" err="1"/>
              <a:t>humanismo</a:t>
            </a:r>
            <a:r>
              <a:rPr lang="en-US" sz="3600" dirty="0"/>
              <a:t>)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66321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DDF2-8251-40A0-A301-AF1702AC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Escritores</a:t>
            </a:r>
            <a:r>
              <a:rPr lang="en-US" sz="4000" dirty="0"/>
              <a:t> clave del </a:t>
            </a:r>
            <a:r>
              <a:rPr lang="en-US" sz="4000" dirty="0" err="1"/>
              <a:t>renacimiento</a:t>
            </a:r>
            <a:r>
              <a:rPr lang="en-US" sz="4000" dirty="0"/>
              <a:t> </a:t>
            </a:r>
            <a:r>
              <a:rPr lang="en-US" sz="4000" dirty="0" err="1"/>
              <a:t>español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13D22-7CC0-45AB-B086-1E4BE9271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Miguel de Cervantes Saavedra</a:t>
            </a:r>
          </a:p>
          <a:p>
            <a:r>
              <a:rPr lang="en-US" sz="3200" dirty="0"/>
              <a:t>Fray Luis de León</a:t>
            </a:r>
          </a:p>
          <a:p>
            <a:r>
              <a:rPr lang="en-US" sz="3200" dirty="0" err="1"/>
              <a:t>Garcilaso</a:t>
            </a:r>
            <a:r>
              <a:rPr lang="en-US" sz="3200" dirty="0"/>
              <a:t> de la Vega</a:t>
            </a:r>
          </a:p>
          <a:p>
            <a:r>
              <a:rPr lang="en-US" sz="3200" dirty="0"/>
              <a:t>Lope de Vega</a:t>
            </a:r>
          </a:p>
          <a:p>
            <a:r>
              <a:rPr lang="en-US" sz="3200" dirty="0"/>
              <a:t>San Juan de la Cruz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84276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CAEE-87C1-54E2-38CD-CAD968FC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Escritores</a:t>
            </a:r>
            <a:r>
              <a:rPr lang="en-US" sz="4400" dirty="0"/>
              <a:t> clave del </a:t>
            </a:r>
            <a:r>
              <a:rPr lang="en-US" sz="4400" dirty="0" err="1"/>
              <a:t>renacimiento</a:t>
            </a:r>
            <a:r>
              <a:rPr lang="en-US" sz="4400" dirty="0"/>
              <a:t> </a:t>
            </a:r>
            <a:r>
              <a:rPr lang="en-US" sz="4400" dirty="0" err="1"/>
              <a:t>español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D521F-1088-65ED-9D24-4A96BC915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8170" y="2491409"/>
            <a:ext cx="8770571" cy="4063283"/>
          </a:xfrm>
        </p:spPr>
        <p:txBody>
          <a:bodyPr>
            <a:normAutofit/>
          </a:bodyPr>
          <a:lstStyle/>
          <a:p>
            <a:r>
              <a:rPr lang="en-US" sz="3600" dirty="0"/>
              <a:t>Juan </a:t>
            </a:r>
            <a:r>
              <a:rPr lang="en-US" sz="3600" dirty="0" err="1"/>
              <a:t>Boscán</a:t>
            </a:r>
            <a:endParaRPr lang="en-US" sz="3600" dirty="0"/>
          </a:p>
          <a:p>
            <a:r>
              <a:rPr lang="en-US" sz="3600" dirty="0"/>
              <a:t>Santa Teresa de Jesús</a:t>
            </a:r>
          </a:p>
          <a:p>
            <a:r>
              <a:rPr lang="en-US" sz="3600" dirty="0"/>
              <a:t>Fernando de Rojas</a:t>
            </a:r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54799011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Feathered</Template>
  <TotalTime>441</TotalTime>
  <Words>664</Words>
  <Application>Microsoft Office PowerPoint</Application>
  <PresentationFormat>Widescreen</PresentationFormat>
  <Paragraphs>113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Calibri</vt:lpstr>
      <vt:lpstr>Century Schoolbook</vt:lpstr>
      <vt:lpstr>Corbel</vt:lpstr>
      <vt:lpstr>Feathered</vt:lpstr>
      <vt:lpstr>El Renacimiento</vt:lpstr>
      <vt:lpstr>Descripción general</vt:lpstr>
      <vt:lpstr>Descripción general</vt:lpstr>
      <vt:lpstr>Descripción general</vt:lpstr>
      <vt:lpstr>Características </vt:lpstr>
      <vt:lpstr>Características </vt:lpstr>
      <vt:lpstr>Características </vt:lpstr>
      <vt:lpstr>Características </vt:lpstr>
      <vt:lpstr>Características </vt:lpstr>
      <vt:lpstr>Características </vt:lpstr>
      <vt:lpstr>Relación del humanismo con el renacimiento</vt:lpstr>
      <vt:lpstr>Razones que motivaron el renacimiento</vt:lpstr>
      <vt:lpstr>Razones que motivaron el renacimiento</vt:lpstr>
      <vt:lpstr>Consecuencias de la filosofía renacentista</vt:lpstr>
      <vt:lpstr>Consecuencias de la filosofía renacentista</vt:lpstr>
      <vt:lpstr>Consecuencias de la filosofía renacentista</vt:lpstr>
      <vt:lpstr>Artes más cultivadas</vt:lpstr>
      <vt:lpstr>Temas predominantes</vt:lpstr>
      <vt:lpstr>Temas predominantes</vt:lpstr>
      <vt:lpstr>Género literarios cultivados</vt:lpstr>
      <vt:lpstr>Artistas clave del renacimiento </vt:lpstr>
      <vt:lpstr>Artistas clave del renacimiento </vt:lpstr>
      <vt:lpstr>Escritores clave del renacimiento en general</vt:lpstr>
      <vt:lpstr>Escritores clave del renacimiento español</vt:lpstr>
      <vt:lpstr>Escritores clave del renacimiento español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Renacimiento</dc:title>
  <dc:creator>Rafael González</dc:creator>
  <cp:lastModifiedBy>Rafael González</cp:lastModifiedBy>
  <cp:revision>9</cp:revision>
  <dcterms:created xsi:type="dcterms:W3CDTF">2022-03-10T10:05:58Z</dcterms:created>
  <dcterms:modified xsi:type="dcterms:W3CDTF">2024-12-05T21:30:20Z</dcterms:modified>
</cp:coreProperties>
</file>